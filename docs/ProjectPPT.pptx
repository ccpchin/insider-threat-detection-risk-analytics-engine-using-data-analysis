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3828913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1514682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448871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F1936A-3EFA-4AFF-BB01-D684960B60F4}" type="datetimeFigureOut">
              <a:rPr lang="en-IN" smtClean="0"/>
              <a:t>14-06-2026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2277027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F1936A-3EFA-4AFF-BB01-D684960B60F4}" type="datetimeFigureOut">
              <a:rPr lang="en-IN" smtClean="0"/>
              <a:t>14-06-2026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2727389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131360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1741610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2215307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F1936A-3EFA-4AFF-BB01-D684960B60F4}" type="datetimeFigureOut">
              <a:rPr lang="en-IN" smtClean="0"/>
              <a:t>14-06-2026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1342660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F1936A-3EFA-4AFF-BB01-D684960B60F4}" type="datetimeFigureOut">
              <a:rPr lang="en-IN" smtClean="0"/>
              <a:t>14-06-2026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98671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2416840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73272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1411597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1604422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34131253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5986231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1936A-3EFA-4AFF-BB01-D684960B60F4}"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302FB3-2450-414F-9550-CBD5D80377A8}" type="slidenum">
              <a:rPr lang="en-IN" smtClean="0"/>
              <a:t>‹#›</a:t>
            </a:fld>
            <a:endParaRPr lang="en-IN"/>
          </a:p>
        </p:txBody>
      </p:sp>
    </p:spTree>
    <p:extLst>
      <p:ext uri="{BB962C8B-B14F-4D97-AF65-F5344CB8AC3E}">
        <p14:creationId xmlns:p14="http://schemas.microsoft.com/office/powerpoint/2010/main" val="2418033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EF1936A-3EFA-4AFF-BB01-D684960B60F4}" type="datetimeFigureOut">
              <a:rPr lang="en-IN" smtClean="0"/>
              <a:t>14-06-2026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2302FB3-2450-414F-9550-CBD5D80377A8}" type="slidenum">
              <a:rPr lang="en-IN" smtClean="0"/>
              <a:t>‹#›</a:t>
            </a:fld>
            <a:endParaRPr lang="en-IN"/>
          </a:p>
        </p:txBody>
      </p:sp>
    </p:spTree>
    <p:extLst>
      <p:ext uri="{BB962C8B-B14F-4D97-AF65-F5344CB8AC3E}">
        <p14:creationId xmlns:p14="http://schemas.microsoft.com/office/powerpoint/2010/main" val="4324306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7A35F-18B1-23E7-6064-54668CCC1BB5}"/>
              </a:ext>
            </a:extLst>
          </p:cNvPr>
          <p:cNvSpPr>
            <a:spLocks noGrp="1"/>
          </p:cNvSpPr>
          <p:nvPr>
            <p:ph type="ctrTitle"/>
          </p:nvPr>
        </p:nvSpPr>
        <p:spPr/>
        <p:txBody>
          <a:bodyPr/>
          <a:lstStyle/>
          <a:p>
            <a:r>
              <a:rPr lang="en-IN" b="1" dirty="0"/>
              <a:t>Data Access Audit &amp; Insider Threat Detection</a:t>
            </a:r>
            <a:endParaRPr lang="en-IN" dirty="0"/>
          </a:p>
        </p:txBody>
      </p:sp>
      <p:sp>
        <p:nvSpPr>
          <p:cNvPr id="3" name="Subtitle 2">
            <a:extLst>
              <a:ext uri="{FF2B5EF4-FFF2-40B4-BE49-F238E27FC236}">
                <a16:creationId xmlns:a16="http://schemas.microsoft.com/office/drawing/2014/main" id="{89E3FCB7-1364-3D66-DE6A-417837AAE9B2}"/>
              </a:ext>
            </a:extLst>
          </p:cNvPr>
          <p:cNvSpPr>
            <a:spLocks noGrp="1"/>
          </p:cNvSpPr>
          <p:nvPr>
            <p:ph type="subTitle" idx="1"/>
          </p:nvPr>
        </p:nvSpPr>
        <p:spPr/>
        <p:txBody>
          <a:bodyPr/>
          <a:lstStyle/>
          <a:p>
            <a:r>
              <a:rPr lang="en-IN" dirty="0"/>
              <a:t>By Chinmay r </a:t>
            </a:r>
            <a:r>
              <a:rPr lang="en-IN" dirty="0" err="1"/>
              <a:t>sharma</a:t>
            </a:r>
            <a:endParaRPr lang="en-IN" dirty="0"/>
          </a:p>
        </p:txBody>
      </p:sp>
    </p:spTree>
    <p:extLst>
      <p:ext uri="{BB962C8B-B14F-4D97-AF65-F5344CB8AC3E}">
        <p14:creationId xmlns:p14="http://schemas.microsoft.com/office/powerpoint/2010/main" val="1701243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DFF10-6488-CFE5-E577-A7B373807098}"/>
              </a:ext>
            </a:extLst>
          </p:cNvPr>
          <p:cNvSpPr>
            <a:spLocks noGrp="1"/>
          </p:cNvSpPr>
          <p:nvPr>
            <p:ph type="title"/>
          </p:nvPr>
        </p:nvSpPr>
        <p:spPr/>
        <p:txBody>
          <a:bodyPr/>
          <a:lstStyle/>
          <a:p>
            <a:r>
              <a:rPr lang="en-IN" dirty="0"/>
              <a:t>PROBLEM</a:t>
            </a:r>
          </a:p>
        </p:txBody>
      </p:sp>
      <p:sp>
        <p:nvSpPr>
          <p:cNvPr id="3" name="Content Placeholder 2">
            <a:extLst>
              <a:ext uri="{FF2B5EF4-FFF2-40B4-BE49-F238E27FC236}">
                <a16:creationId xmlns:a16="http://schemas.microsoft.com/office/drawing/2014/main" id="{F6093727-6DC3-0310-B06C-A573BA94DF7B}"/>
              </a:ext>
            </a:extLst>
          </p:cNvPr>
          <p:cNvSpPr>
            <a:spLocks noGrp="1"/>
          </p:cNvSpPr>
          <p:nvPr>
            <p:ph idx="1"/>
          </p:nvPr>
        </p:nvSpPr>
        <p:spPr/>
        <p:txBody>
          <a:bodyPr/>
          <a:lstStyle/>
          <a:p>
            <a:r>
              <a:rPr lang="en-IN" dirty="0"/>
              <a:t>When you have a system with large quality of events at any given second, SOC’s will have to deal with alert fatigue and critical threats which may have been missed</a:t>
            </a:r>
          </a:p>
          <a:p>
            <a:r>
              <a:rPr lang="en-IN" dirty="0"/>
              <a:t>This is also paired with the fact that with this large swathe of info static rules can create a very frightening percent of false positive cases</a:t>
            </a:r>
          </a:p>
          <a:p>
            <a:endParaRPr lang="en-IN" dirty="0"/>
          </a:p>
        </p:txBody>
      </p:sp>
    </p:spTree>
    <p:extLst>
      <p:ext uri="{BB962C8B-B14F-4D97-AF65-F5344CB8AC3E}">
        <p14:creationId xmlns:p14="http://schemas.microsoft.com/office/powerpoint/2010/main" val="326127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126DE-2097-0602-8C0A-9AC23E0719A9}"/>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EF15C7FB-A512-0888-41E3-AF0998F43043}"/>
              </a:ext>
            </a:extLst>
          </p:cNvPr>
          <p:cNvSpPr>
            <a:spLocks noGrp="1"/>
          </p:cNvSpPr>
          <p:nvPr>
            <p:ph idx="1"/>
          </p:nvPr>
        </p:nvSpPr>
        <p:spPr/>
        <p:txBody>
          <a:bodyPr/>
          <a:lstStyle/>
          <a:p>
            <a:r>
              <a:rPr lang="en-IN" dirty="0"/>
              <a:t>Our system aims to reduce this problem by creating an automated, context filled solution which takes this data and gives the user deeper insights, further contexts and nuanced view of the problem which might get missed in this large swathe if data</a:t>
            </a:r>
          </a:p>
        </p:txBody>
      </p:sp>
    </p:spTree>
    <p:extLst>
      <p:ext uri="{BB962C8B-B14F-4D97-AF65-F5344CB8AC3E}">
        <p14:creationId xmlns:p14="http://schemas.microsoft.com/office/powerpoint/2010/main" val="4163495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D6BD2-1043-1CA4-8B20-D7B94A5BCBC6}"/>
              </a:ext>
            </a:extLst>
          </p:cNvPr>
          <p:cNvSpPr>
            <a:spLocks noGrp="1"/>
          </p:cNvSpPr>
          <p:nvPr>
            <p:ph type="title"/>
          </p:nvPr>
        </p:nvSpPr>
        <p:spPr/>
        <p:txBody>
          <a:bodyPr/>
          <a:lstStyle/>
          <a:p>
            <a:r>
              <a:rPr lang="en-IN" dirty="0"/>
              <a:t>SYSTEM ARCHITECTURE</a:t>
            </a:r>
          </a:p>
        </p:txBody>
      </p:sp>
      <p:sp>
        <p:nvSpPr>
          <p:cNvPr id="3" name="Content Placeholder 2">
            <a:extLst>
              <a:ext uri="{FF2B5EF4-FFF2-40B4-BE49-F238E27FC236}">
                <a16:creationId xmlns:a16="http://schemas.microsoft.com/office/drawing/2014/main" id="{47C4EFDE-1742-6454-B034-C3FB343979B6}"/>
              </a:ext>
            </a:extLst>
          </p:cNvPr>
          <p:cNvSpPr>
            <a:spLocks noGrp="1"/>
          </p:cNvSpPr>
          <p:nvPr>
            <p:ph idx="1"/>
          </p:nvPr>
        </p:nvSpPr>
        <p:spPr/>
        <p:txBody>
          <a:bodyPr/>
          <a:lstStyle/>
          <a:p>
            <a:r>
              <a:rPr lang="en-IN" dirty="0"/>
              <a:t>Our system establishes baseline by calculating the Z scores of the employees and other actors based on their access privileges</a:t>
            </a:r>
          </a:p>
          <a:p>
            <a:r>
              <a:rPr lang="en-IN" dirty="0"/>
              <a:t>We also employ a Context Aware Scoring which operates on two factors</a:t>
            </a:r>
          </a:p>
          <a:p>
            <a:r>
              <a:rPr lang="en-IN" dirty="0"/>
              <a:t>First:- A employee with lower access might pose a higher risk than other employee accessing the same asset but with higher access privilege</a:t>
            </a:r>
          </a:p>
          <a:p>
            <a:r>
              <a:rPr lang="en-IN" dirty="0"/>
              <a:t>Second:- Penalizing temporal anomalies based on user level</a:t>
            </a:r>
          </a:p>
          <a:p>
            <a:r>
              <a:rPr lang="en-IN" dirty="0"/>
              <a:t>Our system uses automated reports and visualizations to better inform the administrators of any anomalies so they can take faster action </a:t>
            </a:r>
          </a:p>
        </p:txBody>
      </p:sp>
    </p:spTree>
    <p:extLst>
      <p:ext uri="{BB962C8B-B14F-4D97-AF65-F5344CB8AC3E}">
        <p14:creationId xmlns:p14="http://schemas.microsoft.com/office/powerpoint/2010/main" val="2047038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67AE8-01E7-2BDB-FFA7-B2D8156D8B89}"/>
              </a:ext>
            </a:extLst>
          </p:cNvPr>
          <p:cNvSpPr>
            <a:spLocks noGrp="1"/>
          </p:cNvSpPr>
          <p:nvPr>
            <p:ph type="title"/>
          </p:nvPr>
        </p:nvSpPr>
        <p:spPr/>
        <p:txBody>
          <a:bodyPr/>
          <a:lstStyle/>
          <a:p>
            <a:r>
              <a:rPr lang="en-IN" dirty="0"/>
              <a:t>PIPELINE &amp; IMPACT</a:t>
            </a:r>
          </a:p>
        </p:txBody>
      </p:sp>
      <p:sp>
        <p:nvSpPr>
          <p:cNvPr id="3" name="Content Placeholder 2">
            <a:extLst>
              <a:ext uri="{FF2B5EF4-FFF2-40B4-BE49-F238E27FC236}">
                <a16:creationId xmlns:a16="http://schemas.microsoft.com/office/drawing/2014/main" id="{E75E51FE-BEC8-5F0F-8131-DDE8355A6611}"/>
              </a:ext>
            </a:extLst>
          </p:cNvPr>
          <p:cNvSpPr>
            <a:spLocks noGrp="1"/>
          </p:cNvSpPr>
          <p:nvPr>
            <p:ph idx="1"/>
          </p:nvPr>
        </p:nvSpPr>
        <p:spPr/>
        <p:txBody>
          <a:bodyPr/>
          <a:lstStyle/>
          <a:p>
            <a:r>
              <a:rPr lang="en-IN" dirty="0"/>
              <a:t>Generating Visualization plots and Automated reports satisfies the GDPR/SOX requirements</a:t>
            </a:r>
          </a:p>
          <a:p>
            <a:r>
              <a:rPr lang="en-IN" dirty="0" err="1"/>
              <a:t>Gradio</a:t>
            </a:r>
            <a:r>
              <a:rPr lang="en-IN" dirty="0"/>
              <a:t> dashboard gives sortable insights and visualizations</a:t>
            </a:r>
          </a:p>
          <a:p>
            <a:r>
              <a:rPr lang="en-IN" dirty="0"/>
              <a:t>We use 95% percentile which makes it adaptable to data growth and avoid returning every time</a:t>
            </a:r>
          </a:p>
          <a:p>
            <a:endParaRPr lang="en-IN" dirty="0"/>
          </a:p>
        </p:txBody>
      </p:sp>
    </p:spTree>
    <p:extLst>
      <p:ext uri="{BB962C8B-B14F-4D97-AF65-F5344CB8AC3E}">
        <p14:creationId xmlns:p14="http://schemas.microsoft.com/office/powerpoint/2010/main" val="3997884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40A1-048F-8EC9-3C11-9B9EBD66A421}"/>
              </a:ext>
            </a:extLst>
          </p:cNvPr>
          <p:cNvSpPr>
            <a:spLocks noGrp="1"/>
          </p:cNvSpPr>
          <p:nvPr>
            <p:ph type="title"/>
          </p:nvPr>
        </p:nvSpPr>
        <p:spPr/>
        <p:txBody>
          <a:bodyPr/>
          <a:lstStyle/>
          <a:p>
            <a:r>
              <a:rPr lang="en-IN" dirty="0"/>
              <a:t>FUTURE IMPROVEMENTS</a:t>
            </a:r>
          </a:p>
        </p:txBody>
      </p:sp>
      <p:sp>
        <p:nvSpPr>
          <p:cNvPr id="3" name="Content Placeholder 2">
            <a:extLst>
              <a:ext uri="{FF2B5EF4-FFF2-40B4-BE49-F238E27FC236}">
                <a16:creationId xmlns:a16="http://schemas.microsoft.com/office/drawing/2014/main" id="{F82FB910-3B49-DEEA-4150-B0C727534D37}"/>
              </a:ext>
            </a:extLst>
          </p:cNvPr>
          <p:cNvSpPr>
            <a:spLocks noGrp="1"/>
          </p:cNvSpPr>
          <p:nvPr>
            <p:ph idx="1"/>
          </p:nvPr>
        </p:nvSpPr>
        <p:spPr/>
        <p:txBody>
          <a:bodyPr/>
          <a:lstStyle/>
          <a:p>
            <a:r>
              <a:rPr lang="en-IN" dirty="0"/>
              <a:t>Current architecture is batch processing centred and is infrastructure agnostic (can run on any environment)</a:t>
            </a:r>
          </a:p>
          <a:p>
            <a:r>
              <a:rPr lang="en-IN" dirty="0"/>
              <a:t>To improve it and make it more scalable</a:t>
            </a:r>
          </a:p>
          <a:p>
            <a:r>
              <a:rPr lang="en-IN" dirty="0"/>
              <a:t>We can develop a more modular pipeline</a:t>
            </a:r>
          </a:p>
          <a:p>
            <a:r>
              <a:rPr lang="en-IN" dirty="0"/>
              <a:t>Switch to stream processing for more scalable system</a:t>
            </a:r>
          </a:p>
          <a:p>
            <a:r>
              <a:rPr lang="en-IN" dirty="0"/>
              <a:t>Use </a:t>
            </a:r>
            <a:r>
              <a:rPr lang="en-IN" dirty="0" err="1"/>
              <a:t>pyspark</a:t>
            </a:r>
            <a:r>
              <a:rPr lang="en-IN" dirty="0"/>
              <a:t> for efficient data processing, </a:t>
            </a:r>
            <a:r>
              <a:rPr lang="en-IN" dirty="0" err="1"/>
              <a:t>pyflink</a:t>
            </a:r>
            <a:r>
              <a:rPr lang="en-IN" dirty="0"/>
              <a:t> for same efficiency in stream processing </a:t>
            </a:r>
          </a:p>
          <a:p>
            <a:r>
              <a:rPr lang="en-IN" dirty="0"/>
              <a:t>We can use Tumbling or Sliding windows to get real time insights</a:t>
            </a:r>
          </a:p>
          <a:p>
            <a:r>
              <a:rPr lang="en-IN" dirty="0"/>
              <a:t>Use Apache Kafka for telemetry and data ingestion</a:t>
            </a:r>
          </a:p>
        </p:txBody>
      </p:sp>
    </p:spTree>
    <p:extLst>
      <p:ext uri="{BB962C8B-B14F-4D97-AF65-F5344CB8AC3E}">
        <p14:creationId xmlns:p14="http://schemas.microsoft.com/office/powerpoint/2010/main" val="21033805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73</TotalTime>
  <Words>317</Words>
  <Application>Microsoft Office PowerPoint</Application>
  <PresentationFormat>Widescreen</PresentationFormat>
  <Paragraphs>25</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Century Gothic</vt:lpstr>
      <vt:lpstr>Wingdings 3</vt:lpstr>
      <vt:lpstr>Ion</vt:lpstr>
      <vt:lpstr>Data Access Audit &amp; Insider Threat Detection</vt:lpstr>
      <vt:lpstr>PROBLEM</vt:lpstr>
      <vt:lpstr>SOLUTION</vt:lpstr>
      <vt:lpstr>SYSTEM ARCHITECTURE</vt:lpstr>
      <vt:lpstr>PIPELINE &amp; IMPACT</vt:lpstr>
      <vt:lpstr>FUTURE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Chinmay R Sharma</dc:creator>
  <cp:lastModifiedBy>Chinmay R Sharma</cp:lastModifiedBy>
  <cp:revision>1</cp:revision>
  <dcterms:created xsi:type="dcterms:W3CDTF">2026-06-14T11:57:09Z</dcterms:created>
  <dcterms:modified xsi:type="dcterms:W3CDTF">2026-06-14T13:10:49Z</dcterms:modified>
</cp:coreProperties>
</file>